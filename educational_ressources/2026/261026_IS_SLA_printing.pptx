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gif" ContentType="image/gi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customXml/itemProps2.xml" ContentType="application/vnd.openxmlformats-officedocument.customXmlPropertie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customXml/itemProps3.xml" ContentType="application/vnd.openxmlformats-officedocument.customXmlProperties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1" d="100"/>
          <a:sy n="101" d="100"/>
        </p:scale>
        <p:origin x="378" y="10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521453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2652549" name="Espace réservé de la date 2"/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AB4938-05BD-4577-B772-51B795B79766}" type="datetimeFigureOut">
              <a:rPr lang="fr-FR"/>
              <a:t>21/10/2026</a:t>
            </a:fld>
            <a:endParaRPr lang="fr-FR"/>
          </a:p>
        </p:txBody>
      </p:sp>
      <p:sp>
        <p:nvSpPr>
          <p:cNvPr id="1011056736" name="Espace réservé du pied de page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05266490" name="Espace réservé du numéro de diapositive 4"/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44D89C-23B5-4326-A1BE-19F6043837A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014906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54242580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A58ED11-3082-4C72-BD90-1FCB61A137C5}" type="datetimeFigureOut">
              <a:rPr lang="fr-FR"/>
              <a:t>21/10/2026</a:t>
            </a:fld>
            <a:endParaRPr lang="fr-FR"/>
          </a:p>
        </p:txBody>
      </p:sp>
      <p:sp>
        <p:nvSpPr>
          <p:cNvPr id="244071431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700783012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3833900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993670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651BACC-EA0B-4F09-9E37-C95F8C883438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78166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98682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729296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34FD903-B804-C9DD-F75B-41BC4C54F11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254560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965261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607684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D26AEF5-5321-1300-D8A9-65D4815B7636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410182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85570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214859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0D7256D-00C7-318F-BA4B-822BBD570681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860570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251494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7373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A359FA-4D41-91E6-0CAF-897C26837CB6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624134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262521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22385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40144BD-4263-A6A9-5E42-F0A8E06B0D62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075155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06470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29858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9EDE054-BD4F-B994-3763-8C78CFDEF32B}" type="slidenum">
              <a:rPr lang="fr-FR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260213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716505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760559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6D1C4A6-DF9A-F666-4F67-9FE22B59A933}" type="slidenum">
              <a:rPr lang="fr-FR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845614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916369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59632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324EAEF-5B08-E8A1-D91E-84C28E069EB0}" type="slidenum">
              <a:rPr lang="fr-FR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96111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255073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992128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F814522-75FC-D451-A143-4C8BAD29F226}" type="slidenum">
              <a:rPr lang="fr-FR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055576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730119" name="Espace réservé des notes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796482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539F62F-BFFE-E242-0896-54C99B76AC52}" type="slidenum">
              <a:rPr lang="fr-FR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033301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973420523" name="Google Shape;8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1_Vide">
    <p:bg>
      <p:bgPr shadeToTitle="0">
        <a:solidFill>
          <a:srgbClr val="4B568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0263105" name="Google Shape;84;p1"/>
          <p:cNvPicPr/>
          <p:nvPr userDrawn="1"/>
        </p:nvPicPr>
        <p:blipFill rotWithShape="1">
          <a:blip r:embed="rId2">
            <a:alphaModFix/>
          </a:blip>
          <a:srcRect l="-420" t="0" r="418" b="0"/>
          <a:stretch/>
        </p:blipFill>
        <p:spPr bwMode="auto">
          <a:xfrm rot="10800000">
            <a:off x="0" y="0"/>
            <a:ext cx="12251334" cy="28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9435425" name="Espace réservé de la date 1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01912035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07001648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B106036-CA92-4CAC-891B-A7DB13AA253D}" type="slidenum">
              <a:rPr lang="fr-FR"/>
              <a:t>‹N°›</a:t>
            </a:fld>
            <a:endParaRPr lang="fr-FR"/>
          </a:p>
        </p:txBody>
      </p:sp>
      <p:pic>
        <p:nvPicPr>
          <p:cNvPr id="1444773305" name="Google Shape;84;p1"/>
          <p:cNvPicPr/>
          <p:nvPr userDrawn="1"/>
        </p:nvPicPr>
        <p:blipFill rotWithShape="1">
          <a:blip r:embed="rId2">
            <a:alphaModFix/>
          </a:blip>
          <a:srcRect l="-420" t="0" r="418" b="1117"/>
          <a:stretch/>
        </p:blipFill>
        <p:spPr bwMode="auto"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2055043" name="Google Shape;85;p1"/>
          <p:cNvGrpSpPr/>
          <p:nvPr userDrawn="1"/>
        </p:nvGrpSpPr>
        <p:grpSpPr bwMode="auto"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26" name="Google Shape;86;p1"/>
            <p:cNvSpPr txBox="1"/>
            <p:nvPr/>
          </p:nvSpPr>
          <p:spPr bwMode="auto"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" name="Google Shape;87;p1"/>
            <p:cNvSpPr txBox="1"/>
            <p:nvPr/>
          </p:nvSpPr>
          <p:spPr bwMode="auto"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94229138" name="Google Shape;88;p1"/>
          <p:cNvSpPr txBox="1"/>
          <p:nvPr userDrawn="1"/>
        </p:nvSpPr>
        <p:spPr bwMode="auto">
          <a:xfrm>
            <a:off x="261733" y="2441323"/>
            <a:ext cx="1160920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defRPr/>
            </a:pPr>
            <a:r>
              <a:rPr lang="fr-FR" sz="5300">
                <a:solidFill>
                  <a:srgbClr val="F3F3F3"/>
                </a:solidFill>
                <a:latin typeface="Lato"/>
                <a:ea typeface="Lato"/>
                <a:cs typeface="Lato"/>
              </a:rPr>
              <a:t> </a:t>
            </a:r>
            <a:endParaRPr lang="fr-FR"/>
          </a:p>
        </p:txBody>
      </p:sp>
      <p:sp>
        <p:nvSpPr>
          <p:cNvPr id="195669323" name="Espace réservé du texte 1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25423" y="18994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Titre</a:t>
            </a:r>
            <a:endParaRPr/>
          </a:p>
        </p:txBody>
      </p:sp>
      <p:pic>
        <p:nvPicPr>
          <p:cNvPr id="1359581836" name="Image 29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098192" y="3440716"/>
            <a:ext cx="3995615" cy="1178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Vide">
    <p:bg>
      <p:bgPr shadeToTitle="0">
        <a:solidFill>
          <a:srgbClr val="4B568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741538" name="Espace réservé de la date 1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7361035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42185219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B106036-CA92-4CAC-891B-A7DB13AA253D}" type="slidenum">
              <a:rPr lang="fr-FR"/>
              <a:t>‹N°›</a:t>
            </a:fld>
            <a:endParaRPr lang="fr-FR"/>
          </a:p>
        </p:txBody>
      </p:sp>
      <p:pic>
        <p:nvPicPr>
          <p:cNvPr id="1377673757" name="Google Shape;84;p1"/>
          <p:cNvPicPr/>
          <p:nvPr userDrawn="1"/>
        </p:nvPicPr>
        <p:blipFill rotWithShape="1">
          <a:blip r:embed="rId2">
            <a:alphaModFix/>
          </a:blip>
          <a:srcRect l="-420" t="0" r="418" b="1117"/>
          <a:stretch/>
        </p:blipFill>
        <p:spPr bwMode="auto"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3190939" name="Google Shape;85;p1"/>
          <p:cNvGrpSpPr/>
          <p:nvPr userDrawn="1"/>
        </p:nvGrpSpPr>
        <p:grpSpPr bwMode="auto"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7" name="Google Shape;86;p1"/>
            <p:cNvSpPr txBox="1"/>
            <p:nvPr/>
          </p:nvSpPr>
          <p:spPr bwMode="auto"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" name="Google Shape;87;p1"/>
            <p:cNvSpPr txBox="1"/>
            <p:nvPr/>
          </p:nvSpPr>
          <p:spPr bwMode="auto"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87860755" name="Google Shape;88;p1"/>
          <p:cNvSpPr txBox="1"/>
          <p:nvPr userDrawn="1"/>
        </p:nvSpPr>
        <p:spPr bwMode="auto">
          <a:xfrm>
            <a:off x="261733" y="2441323"/>
            <a:ext cx="1160920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defRPr/>
            </a:pPr>
            <a:r>
              <a:rPr lang="fr-FR" sz="5300">
                <a:solidFill>
                  <a:srgbClr val="F3F3F3"/>
                </a:solidFill>
                <a:latin typeface="Lato"/>
                <a:ea typeface="Lato"/>
                <a:cs typeface="Lato"/>
              </a:rPr>
              <a:t> </a:t>
            </a:r>
            <a:endParaRPr lang="fr-FR"/>
          </a:p>
        </p:txBody>
      </p:sp>
      <p:sp>
        <p:nvSpPr>
          <p:cNvPr id="791865996" name="Espace réservé du texte 1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25423" y="18994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Titre</a:t>
            </a:r>
            <a:endParaRPr/>
          </a:p>
        </p:txBody>
      </p:sp>
      <p:pic>
        <p:nvPicPr>
          <p:cNvPr id="163195576" name="Image 9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098192" y="3440716"/>
            <a:ext cx="3995615" cy="1178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Vide">
    <p:bg>
      <p:bgPr shadeToTitle="0">
        <a:solidFill>
          <a:srgbClr val="4B568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204864" name="Google Shape;84;p1"/>
          <p:cNvPicPr/>
          <p:nvPr userDrawn="1"/>
        </p:nvPicPr>
        <p:blipFill rotWithShape="1">
          <a:blip r:embed="rId2">
            <a:alphaModFix/>
          </a:blip>
          <a:srcRect l="-420" t="0" r="418" b="0"/>
          <a:stretch/>
        </p:blipFill>
        <p:spPr bwMode="auto">
          <a:xfrm rot="10800000">
            <a:off x="0" y="0"/>
            <a:ext cx="12251334" cy="2829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0097820" name="Google Shape;85;p1"/>
          <p:cNvGrpSpPr/>
          <p:nvPr userDrawn="1"/>
        </p:nvGrpSpPr>
        <p:grpSpPr bwMode="auto">
          <a:xfrm>
            <a:off x="9608240" y="3373304"/>
            <a:ext cx="1958900" cy="607042"/>
            <a:chOff x="0" y="-9525"/>
            <a:chExt cx="3917800" cy="1214084"/>
          </a:xfrm>
        </p:grpSpPr>
        <p:sp>
          <p:nvSpPr>
            <p:cNvPr id="7" name="Google Shape;86;p1"/>
            <p:cNvSpPr txBox="1"/>
            <p:nvPr/>
          </p:nvSpPr>
          <p:spPr bwMode="auto">
            <a:xfrm>
              <a:off x="0" y="-9525"/>
              <a:ext cx="39178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" name="Google Shape;87;p1"/>
            <p:cNvSpPr txBox="1"/>
            <p:nvPr/>
          </p:nvSpPr>
          <p:spPr bwMode="auto">
            <a:xfrm>
              <a:off x="16446" y="761361"/>
              <a:ext cx="3884912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000000"/>
                </a:buClr>
                <a:buSzPts val="1800"/>
                <a:defRPr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21518223" name="Espace réservé du texte 1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25423" y="2712293"/>
            <a:ext cx="11341154" cy="850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Titre</a:t>
            </a:r>
            <a:endParaRPr/>
          </a:p>
        </p:txBody>
      </p:sp>
      <p:pic>
        <p:nvPicPr>
          <p:cNvPr id="1470279635" name="Google Shape;84;p1"/>
          <p:cNvPicPr/>
          <p:nvPr userDrawn="1"/>
        </p:nvPicPr>
        <p:blipFill rotWithShape="1">
          <a:blip r:embed="rId2">
            <a:alphaModFix/>
          </a:blip>
          <a:srcRect l="-420" t="0" r="418" b="1117"/>
          <a:stretch/>
        </p:blipFill>
        <p:spPr bwMode="auto">
          <a:xfrm>
            <a:off x="-51956" y="4060492"/>
            <a:ext cx="12243955" cy="2797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53945" name="Rectangle 81"/>
          <p:cNvSpPr/>
          <p:nvPr userDrawn="1"/>
        </p:nvSpPr>
        <p:spPr bwMode="auto"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 b="1"/>
          </a:p>
        </p:txBody>
      </p:sp>
      <p:sp>
        <p:nvSpPr>
          <p:cNvPr id="297523662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34988" y="252414"/>
            <a:ext cx="7534813" cy="433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267D2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05417958" name="Espace réservé du contenu 76"/>
          <p:cNvSpPr>
            <a:spLocks noGrp="1"/>
          </p:cNvSpPr>
          <p:nvPr>
            <p:ph sz="quarter" idx="12"/>
          </p:nvPr>
        </p:nvSpPr>
        <p:spPr bwMode="auto"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81434853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0">
              <a:defRPr/>
            </a:pPr>
            <a:endParaRPr lang="fr-FR"/>
          </a:p>
        </p:txBody>
      </p:sp>
      <p:sp>
        <p:nvSpPr>
          <p:cNvPr id="396325311" name="Rectangle 6"/>
          <p:cNvSpPr/>
          <p:nvPr userDrawn="1"/>
        </p:nvSpPr>
        <p:spPr bwMode="auto">
          <a:xfrm>
            <a:off x="1" y="6477110"/>
            <a:ext cx="10047382" cy="380890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404260967" name="Rectangle 7"/>
          <p:cNvSpPr/>
          <p:nvPr userDrawn="1"/>
        </p:nvSpPr>
        <p:spPr bwMode="auto">
          <a:xfrm>
            <a:off x="10694654" y="6477108"/>
            <a:ext cx="1497346" cy="380892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068828008" name="Ellipse 8"/>
          <p:cNvSpPr/>
          <p:nvPr userDrawn="1"/>
        </p:nvSpPr>
        <p:spPr bwMode="auto">
          <a:xfrm>
            <a:off x="10513663" y="6477000"/>
            <a:ext cx="381000" cy="381000"/>
          </a:xfrm>
          <a:prstGeom prst="ellipse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1369700" name="Ellipse 9"/>
          <p:cNvSpPr/>
          <p:nvPr userDrawn="1"/>
        </p:nvSpPr>
        <p:spPr bwMode="auto">
          <a:xfrm>
            <a:off x="9851668" y="6477000"/>
            <a:ext cx="381000" cy="381000"/>
          </a:xfrm>
          <a:prstGeom prst="ellipse">
            <a:avLst/>
          </a:prstGeom>
          <a:solidFill>
            <a:srgbClr val="42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97096897" name="Espace réservé du numéro de diapositive 79"/>
          <p:cNvSpPr txBox="1"/>
          <p:nvPr userDrawn="1"/>
        </p:nvSpPr>
        <p:spPr bwMode="auto">
          <a:xfrm>
            <a:off x="9040192" y="64674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>
              <a:defRPr sz="1800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43055DA-B939-4F31-97BB-94A0B583162D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468550" name="Rectangle 81"/>
          <p:cNvSpPr/>
          <p:nvPr userDrawn="1"/>
        </p:nvSpPr>
        <p:spPr bwMode="auto"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 b="1"/>
          </a:p>
        </p:txBody>
      </p:sp>
      <p:sp>
        <p:nvSpPr>
          <p:cNvPr id="770601310" name="Google Shape;133;g1ada96bcbcc_0_16"/>
          <p:cNvSpPr/>
          <p:nvPr userDrawn="1"/>
        </p:nvSpPr>
        <p:spPr bwMode="auto">
          <a:xfrm>
            <a:off x="0" y="6352142"/>
            <a:ext cx="12192000" cy="505857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  <a:defRPr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831325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34988" y="252414"/>
            <a:ext cx="10120819" cy="433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34A853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91812811" name="Espace réservé du contenu 76"/>
          <p:cNvSpPr>
            <a:spLocks noGrp="1"/>
          </p:cNvSpPr>
          <p:nvPr>
            <p:ph sz="quarter" idx="12"/>
          </p:nvPr>
        </p:nvSpPr>
        <p:spPr bwMode="auto"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44430348" name="Espace réservé du numéro de diapositive 79"/>
          <p:cNvSpPr>
            <a:spLocks noGrp="1"/>
          </p:cNvSpPr>
          <p:nvPr>
            <p:ph type="sldNum" sz="quarter" idx="15"/>
          </p:nvPr>
        </p:nvSpPr>
        <p:spPr bwMode="auto"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>
              <a:defRPr/>
            </a:pPr>
            <a:fld id="{DB106036-CA92-4CAC-891B-A7DB13AA253D}" type="slidenum">
              <a:rPr lang="fr-FR"/>
              <a:t>‹N°›</a:t>
            </a:fld>
            <a:endParaRPr lang="fr-FR"/>
          </a:p>
        </p:txBody>
      </p:sp>
      <p:sp>
        <p:nvSpPr>
          <p:cNvPr id="1805968647" name="ZoneTexte 92"/>
          <p:cNvSpPr txBox="1"/>
          <p:nvPr userDrawn="1"/>
        </p:nvSpPr>
        <p:spPr bwMode="auto">
          <a:xfrm>
            <a:off x="838200" y="6416123"/>
            <a:ext cx="236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1800">
                <a:solidFill>
                  <a:srgbClr val="F3F3F3"/>
                </a:solidFill>
                <a:latin typeface="Lato"/>
                <a:ea typeface="Lato"/>
                <a:cs typeface="Lato"/>
              </a:rPr>
              <a:t>BELIER Titouan</a:t>
            </a:r>
            <a:endParaRPr/>
          </a:p>
        </p:txBody>
      </p:sp>
      <p:pic>
        <p:nvPicPr>
          <p:cNvPr id="1865907298" name="Image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841034" y="6237130"/>
            <a:ext cx="2362199" cy="696709"/>
          </a:xfrm>
          <a:prstGeom prst="rect">
            <a:avLst/>
          </a:prstGeom>
        </p:spPr>
      </p:pic>
      <p:pic>
        <p:nvPicPr>
          <p:cNvPr id="654322505" name="Picture 2" descr="Labsticc"/>
          <p:cNvPicPr>
            <a:picLocks noChangeAspect="1" noChangeArrowheads="1"/>
          </p:cNvPicPr>
          <p:nvPr userDrawn="1"/>
        </p:nvPicPr>
        <p:blipFill rotWithShape="1">
          <a:blip r:embed="rId3"/>
          <a:stretch/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</p:spPr>
      </p:pic>
      <p:sp>
        <p:nvSpPr>
          <p:cNvPr id="1972914436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fr-FR"/>
              <a:t>Ent</a:t>
            </a:r>
            <a:endParaRPr lang="fr-FR"/>
          </a:p>
        </p:txBody>
      </p:sp>
      <p:grpSp>
        <p:nvGrpSpPr>
          <p:cNvPr id="1050022165" name="Groupe 12"/>
          <p:cNvGrpSpPr/>
          <p:nvPr userDrawn="1"/>
        </p:nvGrpSpPr>
        <p:grpSpPr bwMode="auto"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4" name="Ellipse 13"/>
            <p:cNvSpPr/>
            <p:nvPr/>
          </p:nvSpPr>
          <p:spPr bwMode="auto"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15" name="Ellipse 14"/>
            <p:cNvSpPr/>
            <p:nvPr/>
          </p:nvSpPr>
          <p:spPr bwMode="auto"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16" name="Ellipse 15"/>
            <p:cNvSpPr/>
            <p:nvPr/>
          </p:nvSpPr>
          <p:spPr bwMode="auto"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17" name="Ellipse 16"/>
            <p:cNvSpPr/>
            <p:nvPr/>
          </p:nvSpPr>
          <p:spPr bwMode="auto"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230284" name="Rectangle 81"/>
          <p:cNvSpPr/>
          <p:nvPr userDrawn="1"/>
        </p:nvSpPr>
        <p:spPr bwMode="auto"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 b="1"/>
          </a:p>
        </p:txBody>
      </p:sp>
      <p:sp>
        <p:nvSpPr>
          <p:cNvPr id="2103714123" name="Google Shape;133;g1ada96bcbcc_0_16"/>
          <p:cNvSpPr/>
          <p:nvPr userDrawn="1"/>
        </p:nvSpPr>
        <p:spPr bwMode="auto">
          <a:xfrm>
            <a:off x="0" y="6352142"/>
            <a:ext cx="12192000" cy="50585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  <a:defRPr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6508088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34988" y="252414"/>
            <a:ext cx="7534813" cy="433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EA4335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011245509" name="Espace réservé du contenu 76"/>
          <p:cNvSpPr>
            <a:spLocks noGrp="1"/>
          </p:cNvSpPr>
          <p:nvPr>
            <p:ph sz="quarter" idx="12"/>
          </p:nvPr>
        </p:nvSpPr>
        <p:spPr bwMode="auto"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4749236" name="ZoneTexte 92"/>
          <p:cNvSpPr txBox="1"/>
          <p:nvPr userDrawn="1"/>
        </p:nvSpPr>
        <p:spPr bwMode="auto">
          <a:xfrm>
            <a:off x="838200" y="6416123"/>
            <a:ext cx="236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1800">
                <a:solidFill>
                  <a:srgbClr val="F3F3F3"/>
                </a:solidFill>
                <a:latin typeface="Lato"/>
                <a:ea typeface="Lato"/>
                <a:cs typeface="Lato"/>
              </a:rPr>
              <a:t>BELIER Titouan</a:t>
            </a:r>
            <a:endParaRPr/>
          </a:p>
        </p:txBody>
      </p:sp>
      <p:pic>
        <p:nvPicPr>
          <p:cNvPr id="1781390829" name="Image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841034" y="6237130"/>
            <a:ext cx="2362199" cy="696709"/>
          </a:xfrm>
          <a:prstGeom prst="rect">
            <a:avLst/>
          </a:prstGeom>
        </p:spPr>
      </p:pic>
      <p:pic>
        <p:nvPicPr>
          <p:cNvPr id="174848510" name="Picture 2" descr="Labsticc"/>
          <p:cNvPicPr>
            <a:picLocks noChangeAspect="1" noChangeArrowheads="1"/>
          </p:cNvPicPr>
          <p:nvPr userDrawn="1"/>
        </p:nvPicPr>
        <p:blipFill rotWithShape="1">
          <a:blip r:embed="rId3"/>
          <a:stretch/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</p:spPr>
      </p:pic>
      <p:sp>
        <p:nvSpPr>
          <p:cNvPr id="35003921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grpSp>
        <p:nvGrpSpPr>
          <p:cNvPr id="1587663767" name="Groupe 17"/>
          <p:cNvGrpSpPr/>
          <p:nvPr userDrawn="1"/>
        </p:nvGrpSpPr>
        <p:grpSpPr bwMode="auto"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/>
            <p:cNvSpPr/>
            <p:nvPr/>
          </p:nvSpPr>
          <p:spPr bwMode="auto"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0" name="Ellipse 19"/>
            <p:cNvSpPr/>
            <p:nvPr/>
          </p:nvSpPr>
          <p:spPr bwMode="auto"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</p:grpSp>
      <p:sp>
        <p:nvSpPr>
          <p:cNvPr id="234802543" name="Espace réservé du numéro de diapositive 79"/>
          <p:cNvSpPr>
            <a:spLocks noGrp="1"/>
          </p:cNvSpPr>
          <p:nvPr>
            <p:ph type="sldNum" sz="quarter" idx="15"/>
          </p:nvPr>
        </p:nvSpPr>
        <p:spPr bwMode="auto"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>
              <a:defRPr/>
            </a:pPr>
            <a:fld id="{DB106036-CA92-4CAC-891B-A7DB13AA253D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089637" name="Rectangle 81"/>
          <p:cNvSpPr/>
          <p:nvPr userDrawn="1"/>
        </p:nvSpPr>
        <p:spPr bwMode="auto"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 b="1"/>
          </a:p>
        </p:txBody>
      </p:sp>
      <p:sp>
        <p:nvSpPr>
          <p:cNvPr id="827087323" name="Google Shape;133;g1ada96bcbcc_0_16"/>
          <p:cNvSpPr/>
          <p:nvPr userDrawn="1"/>
        </p:nvSpPr>
        <p:spPr bwMode="auto">
          <a:xfrm>
            <a:off x="0" y="6352142"/>
            <a:ext cx="12192000" cy="505857"/>
          </a:xfrm>
          <a:prstGeom prst="rect">
            <a:avLst/>
          </a:prstGeom>
          <a:solidFill>
            <a:srgbClr val="4267D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  <a:defRPr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4619569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34988" y="252414"/>
            <a:ext cx="7534813" cy="433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267D2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16307583" name="Espace réservé du contenu 76"/>
          <p:cNvSpPr>
            <a:spLocks noGrp="1"/>
          </p:cNvSpPr>
          <p:nvPr>
            <p:ph sz="quarter" idx="12"/>
          </p:nvPr>
        </p:nvSpPr>
        <p:spPr bwMode="auto"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84333767" name="Espace réservé du numéro de diapositive 79"/>
          <p:cNvSpPr>
            <a:spLocks noGrp="1"/>
          </p:cNvSpPr>
          <p:nvPr>
            <p:ph type="sldNum" sz="quarter" idx="15"/>
          </p:nvPr>
        </p:nvSpPr>
        <p:spPr bwMode="auto"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>
              <a:defRPr/>
            </a:pPr>
            <a:fld id="{843055DA-B939-4F31-97BB-94A0B583162D}" type="slidenum">
              <a:rPr lang="fr-FR"/>
              <a:t>‹N°›</a:t>
            </a:fld>
            <a:endParaRPr lang="fr-FR"/>
          </a:p>
        </p:txBody>
      </p:sp>
      <p:sp>
        <p:nvSpPr>
          <p:cNvPr id="1320294163" name="ZoneTexte 92"/>
          <p:cNvSpPr txBox="1"/>
          <p:nvPr userDrawn="1"/>
        </p:nvSpPr>
        <p:spPr bwMode="auto">
          <a:xfrm>
            <a:off x="838200" y="6416123"/>
            <a:ext cx="236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1800">
                <a:solidFill>
                  <a:srgbClr val="F3F3F3"/>
                </a:solidFill>
                <a:latin typeface="Lato"/>
                <a:ea typeface="Cambria Math"/>
                <a:cs typeface="Lato"/>
              </a:rPr>
              <a:t>BELIER Titouan</a:t>
            </a:r>
            <a:endParaRPr/>
          </a:p>
        </p:txBody>
      </p:sp>
      <p:pic>
        <p:nvPicPr>
          <p:cNvPr id="606098007" name="Image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841034" y="6237130"/>
            <a:ext cx="2362199" cy="696709"/>
          </a:xfrm>
          <a:prstGeom prst="rect">
            <a:avLst/>
          </a:prstGeom>
        </p:spPr>
      </p:pic>
      <p:pic>
        <p:nvPicPr>
          <p:cNvPr id="53823740" name="Picture 2" descr="Labsticc"/>
          <p:cNvPicPr>
            <a:picLocks noChangeAspect="1" noChangeArrowheads="1"/>
          </p:cNvPicPr>
          <p:nvPr userDrawn="1"/>
        </p:nvPicPr>
        <p:blipFill rotWithShape="1">
          <a:blip r:embed="rId3"/>
          <a:stretch/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</p:spPr>
      </p:pic>
      <p:sp>
        <p:nvSpPr>
          <p:cNvPr id="1431107020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0">
              <a:defRPr/>
            </a:pPr>
            <a:endParaRPr lang="fr-FR"/>
          </a:p>
        </p:txBody>
      </p:sp>
      <p:grpSp>
        <p:nvGrpSpPr>
          <p:cNvPr id="59547509" name="Groupe 17"/>
          <p:cNvGrpSpPr/>
          <p:nvPr userDrawn="1"/>
        </p:nvGrpSpPr>
        <p:grpSpPr bwMode="auto"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/>
            <p:cNvSpPr/>
            <p:nvPr/>
          </p:nvSpPr>
          <p:spPr bwMode="auto"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0" name="Ellipse 19"/>
            <p:cNvSpPr/>
            <p:nvPr/>
          </p:nvSpPr>
          <p:spPr bwMode="auto"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642050" name="Rectangle 81"/>
          <p:cNvSpPr/>
          <p:nvPr userDrawn="1"/>
        </p:nvSpPr>
        <p:spPr bwMode="auto">
          <a:xfrm>
            <a:off x="0" y="-35990"/>
            <a:ext cx="12192000" cy="6893989"/>
          </a:xfrm>
          <a:prstGeom prst="rect">
            <a:avLst/>
          </a:prstGeom>
          <a:solidFill>
            <a:srgbClr val="FB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 b="1"/>
          </a:p>
        </p:txBody>
      </p:sp>
      <p:sp>
        <p:nvSpPr>
          <p:cNvPr id="1042958562" name="Google Shape;133;g1ada96bcbcc_0_16"/>
          <p:cNvSpPr/>
          <p:nvPr userDrawn="1"/>
        </p:nvSpPr>
        <p:spPr bwMode="auto">
          <a:xfrm>
            <a:off x="0" y="6352142"/>
            <a:ext cx="12192000" cy="505857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  <a:defRPr/>
            </a:pP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9077080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34988" y="252414"/>
            <a:ext cx="7534813" cy="433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FBBC04"/>
                </a:solidFill>
                <a:latin typeface="Lato"/>
                <a:ea typeface="Lato"/>
                <a:cs typeface="Lato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45235318" name="Espace réservé du contenu 76"/>
          <p:cNvSpPr>
            <a:spLocks noGrp="1"/>
          </p:cNvSpPr>
          <p:nvPr>
            <p:ph sz="quarter" idx="12"/>
          </p:nvPr>
        </p:nvSpPr>
        <p:spPr bwMode="auto">
          <a:xfrm>
            <a:off x="6631999" y="973891"/>
            <a:ext cx="4583113" cy="468999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41507510" name="Espace réservé du numéro de diapositive 79"/>
          <p:cNvSpPr>
            <a:spLocks noGrp="1"/>
          </p:cNvSpPr>
          <p:nvPr>
            <p:ph type="sldNum" sz="quarter" idx="15"/>
          </p:nvPr>
        </p:nvSpPr>
        <p:spPr bwMode="auto">
          <a:xfrm>
            <a:off x="8631584" y="64161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</a:lstStyle>
          <a:p>
            <a:pPr>
              <a:defRPr/>
            </a:pPr>
            <a:fld id="{DB106036-CA92-4CAC-891B-A7DB13AA253D}" type="slidenum">
              <a:rPr lang="fr-FR"/>
              <a:t>‹N°›</a:t>
            </a:fld>
            <a:endParaRPr lang="fr-FR"/>
          </a:p>
        </p:txBody>
      </p:sp>
      <p:sp>
        <p:nvSpPr>
          <p:cNvPr id="736040293" name="ZoneTexte 92"/>
          <p:cNvSpPr txBox="1"/>
          <p:nvPr userDrawn="1"/>
        </p:nvSpPr>
        <p:spPr bwMode="auto">
          <a:xfrm>
            <a:off x="838200" y="6416123"/>
            <a:ext cx="236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1800">
                <a:solidFill>
                  <a:srgbClr val="F3F3F3"/>
                </a:solidFill>
                <a:latin typeface="Lato"/>
                <a:ea typeface="Lato"/>
                <a:cs typeface="Lato"/>
              </a:rPr>
              <a:t>BELIER Titouan</a:t>
            </a:r>
            <a:endParaRPr/>
          </a:p>
        </p:txBody>
      </p:sp>
      <p:pic>
        <p:nvPicPr>
          <p:cNvPr id="590621412" name="Image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841034" y="6237130"/>
            <a:ext cx="2362199" cy="696709"/>
          </a:xfrm>
          <a:prstGeom prst="rect">
            <a:avLst/>
          </a:prstGeom>
        </p:spPr>
      </p:pic>
      <p:pic>
        <p:nvPicPr>
          <p:cNvPr id="1898005294" name="Picture 2" descr="Labsticc"/>
          <p:cNvPicPr>
            <a:picLocks noChangeAspect="1" noChangeArrowheads="1"/>
          </p:cNvPicPr>
          <p:nvPr userDrawn="1"/>
        </p:nvPicPr>
        <p:blipFill rotWithShape="1">
          <a:blip r:embed="rId3"/>
          <a:stretch/>
        </p:blipFill>
        <p:spPr bwMode="auto">
          <a:xfrm>
            <a:off x="6472860" y="6434122"/>
            <a:ext cx="742016" cy="329126"/>
          </a:xfrm>
          <a:prstGeom prst="rect">
            <a:avLst/>
          </a:prstGeom>
          <a:noFill/>
        </p:spPr>
      </p:pic>
      <p:sp>
        <p:nvSpPr>
          <p:cNvPr id="1666587170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4988" y="973892"/>
            <a:ext cx="5333152" cy="46899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grpSp>
        <p:nvGrpSpPr>
          <p:cNvPr id="691907921" name="Groupe 16"/>
          <p:cNvGrpSpPr/>
          <p:nvPr userDrawn="1"/>
        </p:nvGrpSpPr>
        <p:grpSpPr bwMode="auto">
          <a:xfrm>
            <a:off x="11548898" y="249075"/>
            <a:ext cx="309315" cy="1449631"/>
            <a:chOff x="6420889" y="3830158"/>
            <a:chExt cx="309315" cy="1449631"/>
          </a:xfrm>
        </p:grpSpPr>
        <p:sp>
          <p:nvSpPr>
            <p:cNvPr id="19" name="Ellipse 18"/>
            <p:cNvSpPr/>
            <p:nvPr/>
          </p:nvSpPr>
          <p:spPr bwMode="auto">
            <a:xfrm>
              <a:off x="6420889" y="3830158"/>
              <a:ext cx="309314" cy="309314"/>
            </a:xfrm>
            <a:prstGeom prst="ellipse">
              <a:avLst/>
            </a:prstGeom>
            <a:solidFill>
              <a:srgbClr val="4267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0" name="Ellipse 19"/>
            <p:cNvSpPr/>
            <p:nvPr/>
          </p:nvSpPr>
          <p:spPr bwMode="auto">
            <a:xfrm>
              <a:off x="6420889" y="4210264"/>
              <a:ext cx="309314" cy="309314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420890" y="4590369"/>
              <a:ext cx="309314" cy="309314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  <p:sp>
          <p:nvSpPr>
            <p:cNvPr id="22" name="Ellipse 21"/>
            <p:cNvSpPr/>
            <p:nvPr/>
          </p:nvSpPr>
          <p:spPr bwMode="auto">
            <a:xfrm>
              <a:off x="6420890" y="4970475"/>
              <a:ext cx="309314" cy="309314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00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52130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0339227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47256529" name="Espace réservé de la date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61237517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5332705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673930" name="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1456410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58494531" name="Espace réservé de la date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88049023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381233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162926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678884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170212210" name="Espace réservé de la date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10959546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7850316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108502" name="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1738810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5411398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53798823" name="Espace réservé de la date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85010579" name="Espace réservé du pied de page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905548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666170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0333754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0239013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44784638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47596613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44230182" name="Espace réservé de la date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16421961" name="Espace réservé du pied de page 7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03350663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325052" name="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09632129" name="Espace réservé de la date 2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83169133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63481972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61849" name="Espace réservé de la date 1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3386169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23267852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49593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4328282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3304112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90586624" name="Espace réservé de la date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88961294" name="Espace réservé du pied de page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7641586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369934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65487217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108622363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75221395" name="Espace réservé de la date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31962559" name="Espace réservé du pied de page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2331842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947585" name="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5438585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69283145" name="Espace réservé de la date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44882453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114262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814911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6407740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40424487" name="Espace réservé de la date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46183787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834636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07B024A-9FE7-4357-9389-910528B297D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Relationship Id="rId4" Type="http://schemas.openxmlformats.org/officeDocument/2006/relationships/image" Target="../media/image6.gif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26724" name="Espace réservé du texte 2"/>
          <p:cNvSpPr>
            <a:spLocks noGrp="1"/>
          </p:cNvSpPr>
          <p:nvPr>
            <p:ph type="body" sz="quarter" idx="4294967295"/>
          </p:nvPr>
        </p:nvSpPr>
        <p:spPr bwMode="auto">
          <a:xfrm>
            <a:off x="425423" y="1891744"/>
            <a:ext cx="11341154" cy="8509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buClr>
                <a:schemeClr val="dk1"/>
              </a:buClr>
              <a:buSzPts val="1100"/>
              <a:defRPr/>
            </a:pPr>
            <a:r>
              <a:rPr lang="en-US" sz="4400">
                <a:solidFill>
                  <a:srgbClr val="F3F3F3"/>
                </a:solidFill>
                <a:latin typeface="Bahnschrift"/>
                <a:ea typeface="Lato"/>
                <a:cs typeface="Lato"/>
              </a:rPr>
              <a:t>TITRE</a:t>
            </a:r>
            <a:endParaRPr lang="fr-FR" sz="1050">
              <a:solidFill>
                <a:srgbClr val="FFFFFF"/>
              </a:solidFill>
              <a:latin typeface="Bahnschrift"/>
              <a:ea typeface="Lato"/>
              <a:cs typeface="Lato"/>
            </a:endParaRPr>
          </a:p>
        </p:txBody>
      </p:sp>
      <p:sp>
        <p:nvSpPr>
          <p:cNvPr id="1597098826" name="Espace réservé du texte 2"/>
          <p:cNvSpPr txBox="1"/>
          <p:nvPr/>
        </p:nvSpPr>
        <p:spPr bwMode="auto">
          <a:xfrm>
            <a:off x="425423" y="2742644"/>
            <a:ext cx="11341154" cy="85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400">
                <a:solidFill>
                  <a:srgbClr val="F3F3F3"/>
                </a:solidFill>
                <a:latin typeface="Lato"/>
                <a:ea typeface="Lato"/>
                <a:cs typeface="Lato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100"/>
              <a:defRPr/>
            </a:pPr>
            <a:r>
              <a:rPr lang="en-US" sz="2000">
                <a:latin typeface="Bahnschrift"/>
              </a:rPr>
              <a:t>Sous-</a:t>
            </a:r>
            <a:r>
              <a:rPr lang="en-US" sz="2000">
                <a:latin typeface="Bahnschrift"/>
              </a:rPr>
              <a:t>Titre</a:t>
            </a:r>
            <a:endParaRPr lang="fr-FR" sz="400">
              <a:solidFill>
                <a:srgbClr val="FFFFFF"/>
              </a:solidFill>
              <a:latin typeface="Bahnschrif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833927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Sommaire</a:t>
            </a:r>
            <a:endParaRPr/>
          </a:p>
        </p:txBody>
      </p:sp>
      <p:sp>
        <p:nvSpPr>
          <p:cNvPr id="1219578097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50" indent="-261850">
              <a:buFont typeface="Arial"/>
              <a:buChar char="•"/>
              <a:defRPr/>
            </a:pPr>
            <a:r>
              <a:rPr/>
              <a:t>What is SLA 3D printing ?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/>
              <a:t>When is it relevant to use ?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/>
              <a:t>How to use the SLA printer ?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Safety measures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Software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Processes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Maintenance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endParaRPr/>
          </a:p>
        </p:txBody>
      </p:sp>
      <p:pic>
        <p:nvPicPr>
          <p:cNvPr id="343921635" name="Picture 6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814785" y="560246"/>
            <a:ext cx="5171642" cy="5171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43372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What is SLA 3D printing ?</a:t>
            </a:r>
            <a:endParaRPr/>
          </a:p>
        </p:txBody>
      </p:sp>
      <p:pic>
        <p:nvPicPr>
          <p:cNvPr id="1699604186" name="Picture 5"/>
          <p:cNvPicPr>
            <a:picLocks noChangeAspect="1"/>
          </p:cNvPicPr>
          <p:nvPr>
            <p:ph sz="quarter" idx="12"/>
          </p:nvPr>
        </p:nvPicPr>
        <p:blipFill rotWithShape="1">
          <a:blip r:embed="rId3"/>
          <a:stretch/>
        </p:blipFill>
        <p:spPr bwMode="auto">
          <a:xfrm rot="0">
            <a:off x="6541284" y="585136"/>
            <a:ext cx="4583112" cy="2383218"/>
          </a:xfrm>
          <a:prstGeom prst="rect">
            <a:avLst/>
          </a:prstGeom>
        </p:spPr>
      </p:pic>
      <p:sp>
        <p:nvSpPr>
          <p:cNvPr id="1043639269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50" indent="-261850">
              <a:buFont typeface="Arial"/>
              <a:buChar char="•"/>
              <a:defRPr/>
            </a:pPr>
            <a:r>
              <a:rPr b="0"/>
              <a:t>SLA printers use liquid UV resin</a:t>
            </a:r>
            <a:endParaRPr b="0"/>
          </a:p>
          <a:p>
            <a:pPr marL="261850" indent="-261850">
              <a:buFont typeface="Arial"/>
              <a:buChar char="•"/>
              <a:defRPr/>
            </a:pPr>
            <a:r>
              <a:rPr b="0"/>
              <a:t>The build platform is facing down on the screen</a:t>
            </a:r>
            <a:endParaRPr b="0"/>
          </a:p>
          <a:p>
            <a:pPr marL="261850" indent="-261850">
              <a:buFont typeface="Arial"/>
              <a:buChar char="•"/>
              <a:defRPr/>
            </a:pPr>
            <a:r>
              <a:rPr b="0"/>
              <a:t>An UV LCD screen </a:t>
            </a:r>
            <a:r>
              <a:rPr b="0"/>
              <a:t>display a black and white image corresponding to the layer</a:t>
            </a:r>
            <a:endParaRPr b="0"/>
          </a:p>
          <a:p>
            <a:pPr marL="261850" indent="-261850">
              <a:buFont typeface="Arial"/>
              <a:buChar char="•"/>
              <a:defRPr/>
            </a:pPr>
            <a:r>
              <a:rPr b="0"/>
              <a:t>Each layer is exposed a certain amount of time to let the resin cure</a:t>
            </a:r>
            <a:endParaRPr b="0"/>
          </a:p>
          <a:p>
            <a:pPr marL="261850" indent="-261850">
              <a:buFont typeface="Arial"/>
              <a:buChar char="•"/>
              <a:defRPr/>
            </a:pPr>
            <a:r>
              <a:rPr b="0"/>
              <a:t>The build platform raises until the model is printed</a:t>
            </a:r>
            <a:endParaRPr b="0"/>
          </a:p>
          <a:p>
            <a:pPr marL="261850" indent="-261850">
              <a:buFont typeface="Arial"/>
              <a:buChar char="•"/>
              <a:defRPr/>
            </a:pPr>
            <a:endParaRPr b="0"/>
          </a:p>
        </p:txBody>
      </p:sp>
      <p:pic>
        <p:nvPicPr>
          <p:cNvPr id="159659231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243345" y="3182817"/>
            <a:ext cx="5178990" cy="2913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982907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When is it relevant to use ?</a:t>
            </a:r>
            <a:endParaRPr/>
          </a:p>
        </p:txBody>
      </p:sp>
      <p:sp>
        <p:nvSpPr>
          <p:cNvPr id="2039345310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50" indent="-261850">
              <a:buFont typeface="Arial"/>
              <a:buChar char="•"/>
              <a:defRPr/>
            </a:pPr>
            <a:r>
              <a:rPr/>
              <a:t>Advantages :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Great resolution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Homogeneous solid (no layer weakness, watertight)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Various materials to choose from</a:t>
            </a:r>
            <a:endParaRPr/>
          </a:p>
          <a:p>
            <a:pPr marL="400050" lvl="1" indent="0">
              <a:buFont typeface="Arial"/>
              <a:buNone/>
              <a:defRPr/>
            </a:pPr>
            <a:endParaRPr/>
          </a:p>
          <a:p>
            <a:pPr marL="261850" lvl="0" indent="-261850">
              <a:buFont typeface="Arial"/>
              <a:buChar char="•"/>
              <a:defRPr/>
            </a:pPr>
            <a:r>
              <a:rPr/>
              <a:t>Drawbacks :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Complex handling and post processing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Safety issues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Hard to get precise dimensions</a:t>
            </a:r>
            <a:endParaRPr/>
          </a:p>
          <a:p>
            <a:pPr marL="400050" lvl="1" indent="0">
              <a:buFont typeface="Arial"/>
              <a:buNone/>
              <a:defRPr/>
            </a:pPr>
            <a:endParaRPr/>
          </a:p>
          <a:p>
            <a:pPr marL="261850" lvl="0" indent="-261850">
              <a:buFont typeface="Arial"/>
              <a:buChar char="•"/>
              <a:defRPr/>
            </a:pPr>
            <a:r>
              <a:rPr/>
              <a:t>When is it useful for robots ?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For watertight or smooth parts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If a specific material is needed</a:t>
            </a:r>
            <a:endParaRPr/>
          </a:p>
        </p:txBody>
      </p:sp>
      <p:pic>
        <p:nvPicPr>
          <p:cNvPr id="1725199063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99" y="1047636"/>
            <a:ext cx="5370285" cy="35787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534405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Safety measures</a:t>
            </a:r>
            <a:endParaRPr/>
          </a:p>
        </p:txBody>
      </p:sp>
      <p:sp>
        <p:nvSpPr>
          <p:cNvPr id="595150479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Health Hazard/Hazardous to the Atmospheric System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Acute toxicity (oral, dermal, inhalation)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Skin irritation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Eye irritation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/>
              <a:t>Skin sensitization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Respiratory tract irritation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Narcotic effects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Hazardous to the Environment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Acute hazards to the aquatic environment</a:t>
            </a:r>
            <a:endParaRPr/>
          </a:p>
          <a:p>
            <a:pPr marL="661900" lvl="1" indent="-261850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Chronic hazards to the aquatic environment</a:t>
            </a:r>
            <a:endParaRPr lang="fr-FR" sz="16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261849" lvl="0" indent="-261849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Flammable</a:t>
            </a:r>
            <a:endParaRPr b="1"/>
          </a:p>
          <a:p>
            <a:pPr marL="261850" indent="-261850">
              <a:buFont typeface="Arial"/>
              <a:buChar char="•"/>
              <a:defRPr/>
            </a:pPr>
            <a:endParaRPr/>
          </a:p>
        </p:txBody>
      </p:sp>
      <p:pic>
        <p:nvPicPr>
          <p:cNvPr id="383831752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91891" y="1102177"/>
            <a:ext cx="1428750" cy="1428750"/>
          </a:xfrm>
          <a:prstGeom prst="rect">
            <a:avLst/>
          </a:prstGeom>
        </p:spPr>
      </p:pic>
      <p:pic>
        <p:nvPicPr>
          <p:cNvPr id="134381145" name="Picture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55425" y="1102177"/>
            <a:ext cx="1428750" cy="1428750"/>
          </a:xfrm>
          <a:prstGeom prst="rect">
            <a:avLst/>
          </a:prstGeom>
        </p:spPr>
      </p:pic>
      <p:pic>
        <p:nvPicPr>
          <p:cNvPr id="254155204" name="Picture 6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5606141" y="2530927"/>
            <a:ext cx="3386838" cy="3386838"/>
          </a:xfrm>
          <a:prstGeom prst="rect">
            <a:avLst/>
          </a:prstGeom>
        </p:spPr>
      </p:pic>
      <p:pic>
        <p:nvPicPr>
          <p:cNvPr id="2097091256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726124" y="1102177"/>
            <a:ext cx="1428750" cy="1428750"/>
          </a:xfrm>
          <a:prstGeom prst="rect">
            <a:avLst/>
          </a:prstGeom>
        </p:spPr>
      </p:pic>
      <p:pic>
        <p:nvPicPr>
          <p:cNvPr id="2036979889" name="Picture 7"/>
          <p:cNvPicPr>
            <a:picLocks noChangeAspect="1"/>
          </p:cNvPicPr>
          <p:nvPr/>
        </p:nvPicPr>
        <p:blipFill rotWithShape="1">
          <a:blip r:embed="rId7"/>
        </p:blipFill>
        <p:spPr bwMode="auto">
          <a:xfrm flipH="0" flipV="0">
            <a:off x="9297374" y="2959760"/>
            <a:ext cx="2780325" cy="2780325"/>
          </a:xfrm>
          <a:prstGeom prst="rect">
            <a:avLst/>
          </a:prstGeom>
        </p:spPr>
      </p:pic>
      <p:pic>
        <p:nvPicPr>
          <p:cNvPr id="117796555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97374" y="1102177"/>
            <a:ext cx="1428750" cy="142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746015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Safety measures</a:t>
            </a:r>
            <a:endParaRPr/>
          </a:p>
        </p:txBody>
      </p:sp>
      <p:sp>
        <p:nvSpPr>
          <p:cNvPr id="53056264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49" lvl="0" indent="-261849">
              <a:buFont typeface="Arial"/>
              <a:buChar char="•"/>
              <a:defRPr/>
            </a:pPr>
            <a:r>
              <a:rPr/>
              <a:t>Mandatory safety measures :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Butyle gloves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Safety glasses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Respiratory mask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Lab coat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Ventilation</a:t>
            </a:r>
            <a:endParaRPr/>
          </a:p>
          <a:p>
            <a:pPr marL="261849" lvl="0" indent="-261849">
              <a:buFont typeface="Arial"/>
              <a:buChar char="•"/>
              <a:defRPr/>
            </a:pPr>
            <a:endParaRPr/>
          </a:p>
          <a:p>
            <a:pPr marL="261849" lvl="0" indent="-261849">
              <a:buFont typeface="Arial"/>
              <a:buChar char="•"/>
              <a:defRPr/>
            </a:pPr>
            <a:r>
              <a:rPr/>
              <a:t>Consider the workspace as contaminated</a:t>
            </a:r>
            <a:endParaRPr/>
          </a:p>
          <a:p>
            <a:pPr marL="261849" lvl="0" indent="-261849">
              <a:buFont typeface="Arial"/>
              <a:buChar char="•"/>
              <a:defRPr/>
            </a:pPr>
            <a:endParaRPr/>
          </a:p>
          <a:p>
            <a:pPr marL="261849" lvl="0" indent="-261849">
              <a:buFont typeface="Arial"/>
              <a:buChar char="•"/>
              <a:defRPr/>
            </a:pPr>
            <a:r>
              <a:rPr/>
              <a:t>Every resin waste belong in the hazard bin</a:t>
            </a:r>
            <a:endParaRPr/>
          </a:p>
          <a:p>
            <a:pPr marL="261849" lvl="0" indent="-261849">
              <a:buFont typeface="Arial"/>
              <a:buChar char="•"/>
              <a:defRPr/>
            </a:pPr>
            <a:endParaRPr/>
          </a:p>
          <a:p>
            <a:pPr marL="261849" lvl="0" indent="-261849">
              <a:buFont typeface="Arial"/>
              <a:buChar char="•"/>
              <a:defRPr/>
            </a:pPr>
            <a:r>
              <a:rPr/>
              <a:t>No liquid that has resin should be disposed of in the sink</a:t>
            </a:r>
            <a:endParaRPr/>
          </a:p>
          <a:p>
            <a:pPr marL="261849" indent="-261849">
              <a:buFont typeface="Arial"/>
              <a:buChar char="•"/>
              <a:defRPr/>
            </a:pPr>
            <a:endParaRPr/>
          </a:p>
        </p:txBody>
      </p:sp>
      <p:pic>
        <p:nvPicPr>
          <p:cNvPr id="1218783148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469753" y="973891"/>
            <a:ext cx="1913142" cy="1913142"/>
          </a:xfrm>
          <a:prstGeom prst="rect">
            <a:avLst/>
          </a:prstGeom>
        </p:spPr>
      </p:pic>
      <p:pic>
        <p:nvPicPr>
          <p:cNvPr id="1462823577" name="Picture 5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9181181" y="973891"/>
            <a:ext cx="2154464" cy="2154464"/>
          </a:xfrm>
          <a:prstGeom prst="rect">
            <a:avLst/>
          </a:prstGeom>
        </p:spPr>
      </p:pic>
      <p:pic>
        <p:nvPicPr>
          <p:cNvPr id="1483493969" name="Picture 6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9369414" y="3775578"/>
            <a:ext cx="1777999" cy="1777999"/>
          </a:xfrm>
          <a:prstGeom prst="rect">
            <a:avLst/>
          </a:prstGeom>
        </p:spPr>
      </p:pic>
      <p:pic>
        <p:nvPicPr>
          <p:cNvPr id="1157662600" name="Picture 7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6600825" y="3607292"/>
            <a:ext cx="1946285" cy="1946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17562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Software</a:t>
            </a:r>
            <a:endParaRPr/>
          </a:p>
        </p:txBody>
      </p:sp>
      <p:sp>
        <p:nvSpPr>
          <p:cNvPr id="53905902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49" lvl="0" indent="-261849">
              <a:buFont typeface="Arial"/>
              <a:buChar char="•"/>
              <a:defRPr/>
            </a:pPr>
            <a:r>
              <a:rPr/>
              <a:t>Elegoo SatelLite 3D Slicer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Native for Windows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For Linux, use with Bottles (soda-9.0-1)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endParaRPr/>
          </a:p>
          <a:p>
            <a:pPr marL="261849" indent="-261849">
              <a:buFont typeface="Arial"/>
              <a:buChar char="•"/>
              <a:defRPr/>
            </a:pPr>
            <a:endParaRPr/>
          </a:p>
        </p:txBody>
      </p:sp>
      <p:pic>
        <p:nvPicPr>
          <p:cNvPr id="32934869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97686" y="36977"/>
            <a:ext cx="5903599" cy="2204010"/>
          </a:xfrm>
          <a:prstGeom prst="rect">
            <a:avLst/>
          </a:prstGeom>
        </p:spPr>
      </p:pic>
      <p:pic>
        <p:nvPicPr>
          <p:cNvPr id="1401502284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97686" y="2240989"/>
            <a:ext cx="5903599" cy="2204010"/>
          </a:xfrm>
          <a:prstGeom prst="rect">
            <a:avLst/>
          </a:prstGeom>
        </p:spPr>
      </p:pic>
      <p:pic>
        <p:nvPicPr>
          <p:cNvPr id="1754741515" name="Picture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076642" y="3741180"/>
            <a:ext cx="3620838" cy="24956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778299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Software</a:t>
            </a:r>
            <a:endParaRPr/>
          </a:p>
        </p:txBody>
      </p:sp>
      <p:sp>
        <p:nvSpPr>
          <p:cNvPr id="306645744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261849" lvl="0" indent="-261849">
              <a:buFont typeface="Arial"/>
              <a:buChar char="•"/>
              <a:defRPr/>
            </a:pPr>
            <a:r>
              <a:rPr/>
              <a:t>Elegoo SatelLite 3D Slicer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Native for Windows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For Linux, use with Bottles (soda-9.0-1)</a:t>
            </a:r>
            <a:endParaRPr/>
          </a:p>
          <a:p>
            <a:pPr marL="261849" lvl="0" indent="-261849">
              <a:buFont typeface="Arial"/>
              <a:buChar char="•"/>
              <a:defRPr/>
            </a:pPr>
            <a:endParaRPr/>
          </a:p>
          <a:p>
            <a:pPr marL="261849" lvl="0" indent="-261849">
              <a:buFont typeface="Arial"/>
              <a:buChar char="•"/>
              <a:defRPr/>
            </a:pPr>
            <a:r>
              <a:rPr/>
              <a:t>Software workflow :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Export desired part in .STL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Import in SatelLite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Rotate to guarantee correct printing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Generate support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Slice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r>
              <a:rPr/>
              <a:t>Send via network to the printer</a:t>
            </a:r>
            <a:endParaRPr/>
          </a:p>
          <a:p>
            <a:pPr marL="661899" lvl="1" indent="-261849">
              <a:buFont typeface="Arial"/>
              <a:buChar char="•"/>
              <a:defRPr/>
            </a:pPr>
            <a:endParaRPr/>
          </a:p>
          <a:p>
            <a:pPr marL="261849" indent="-261849">
              <a:buFont typeface="Arial"/>
              <a:buChar char="•"/>
              <a:defRPr/>
            </a:pPr>
            <a:endParaRPr/>
          </a:p>
        </p:txBody>
      </p:sp>
      <p:pic>
        <p:nvPicPr>
          <p:cNvPr id="1578667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97299" y="4194618"/>
            <a:ext cx="3647099" cy="2051493"/>
          </a:xfrm>
          <a:prstGeom prst="rect">
            <a:avLst/>
          </a:prstGeom>
        </p:spPr>
      </p:pic>
      <p:pic>
        <p:nvPicPr>
          <p:cNvPr id="1677634613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50199" y="91631"/>
            <a:ext cx="3647099" cy="2051493"/>
          </a:xfrm>
          <a:prstGeom prst="rect">
            <a:avLst/>
          </a:prstGeom>
        </p:spPr>
      </p:pic>
      <p:pic>
        <p:nvPicPr>
          <p:cNvPr id="286605797" name="Picture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697299" y="91631"/>
            <a:ext cx="3647099" cy="2051493"/>
          </a:xfrm>
          <a:prstGeom prst="rect">
            <a:avLst/>
          </a:prstGeom>
        </p:spPr>
      </p:pic>
      <p:pic>
        <p:nvPicPr>
          <p:cNvPr id="1940440578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050199" y="2143125"/>
            <a:ext cx="3647099" cy="2051493"/>
          </a:xfrm>
          <a:prstGeom prst="rect">
            <a:avLst/>
          </a:prstGeom>
        </p:spPr>
      </p:pic>
      <p:pic>
        <p:nvPicPr>
          <p:cNvPr id="1671061250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697299" y="2143125"/>
            <a:ext cx="3647099" cy="2051493"/>
          </a:xfrm>
          <a:prstGeom prst="rect">
            <a:avLst/>
          </a:prstGeom>
        </p:spPr>
      </p:pic>
      <p:pic>
        <p:nvPicPr>
          <p:cNvPr id="1511106964" name="Picture 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5050199" y="4194618"/>
            <a:ext cx="3647099" cy="2051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1745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Processes</a:t>
            </a:r>
            <a:endParaRPr/>
          </a:p>
        </p:txBody>
      </p:sp>
      <p:sp>
        <p:nvSpPr>
          <p:cNvPr id="1977198328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 flipH="0" flipV="0">
            <a:off x="534987" y="973891"/>
            <a:ext cx="6428761" cy="468999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261848" lvl="0" indent="-261848">
              <a:buFont typeface="Arial"/>
              <a:buChar char="•"/>
              <a:defRPr/>
            </a:pPr>
            <a:r>
              <a:rPr/>
              <a:t>Print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Wear all safety equipments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Check that the resin level is between MIN and MAX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Check that the film is clean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Select sent file and print</a:t>
            </a:r>
            <a:endParaRPr/>
          </a:p>
          <a:p>
            <a:pPr marL="261848" lvl="0" indent="-261848">
              <a:buFont typeface="Arial"/>
              <a:buChar char="•"/>
              <a:defRPr/>
            </a:pPr>
            <a:r>
              <a:rPr/>
              <a:t>Clean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Wear all safety equipments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Prepare the workplace with a disposable trash bag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Prepare paper towel with isopropylic alcool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Remove the build plate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Remove the printed part on the trash bag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Clean</a:t>
            </a:r>
            <a:r>
              <a:rPr/>
              <a:t> the build plate and put it back on the printer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Remove supports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Wash the parts in the washer</a:t>
            </a:r>
            <a:endParaRPr/>
          </a:p>
          <a:p>
            <a:pPr marL="261848" lvl="0" indent="-261848">
              <a:buFont typeface="Arial"/>
              <a:buChar char="•"/>
              <a:defRPr/>
            </a:pPr>
            <a:r>
              <a:rPr/>
              <a:t>Cure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Wear all safety equipments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Once cleaned, wipe dry the parts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Cure the parts in the curer</a:t>
            </a:r>
            <a:endParaRPr/>
          </a:p>
        </p:txBody>
      </p:sp>
      <p:pic>
        <p:nvPicPr>
          <p:cNvPr id="807936330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782649" y="1069141"/>
            <a:ext cx="6104549" cy="4578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677681" name="Espace réservé du texte 83"/>
          <p:cNvSpPr>
            <a:spLocks noGrp="1"/>
          </p:cNvSpPr>
          <p:nvPr>
            <p:ph type="body" sz="quarter" idx="16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How to use the SLA printer ?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 - </a:t>
            </a:r>
            <a:r>
              <a:rPr lang="fr-FR" sz="1600" b="1" i="0" u="none" strike="noStrike" cap="none" spc="0">
                <a:solidFill>
                  <a:srgbClr val="4267D2"/>
                </a:solidFill>
                <a:latin typeface="Lato"/>
                <a:ea typeface="Lato"/>
                <a:cs typeface="Lato"/>
              </a:rPr>
              <a:t>Maintenance</a:t>
            </a:r>
            <a:endParaRPr/>
          </a:p>
        </p:txBody>
      </p:sp>
      <p:sp>
        <p:nvSpPr>
          <p:cNvPr id="1831220058" name="Espace réservé du texte 74"/>
          <p:cNvSpPr>
            <a:spLocks noGrp="1"/>
          </p:cNvSpPr>
          <p:nvPr>
            <p:ph type="body" sz="quarter" idx="11" hasCustomPrompt="1"/>
          </p:nvPr>
        </p:nvSpPr>
        <p:spPr bwMode="auto">
          <a:xfrm flipH="0" flipV="0">
            <a:off x="534987" y="973891"/>
            <a:ext cx="4771411" cy="468999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61848" lvl="0" indent="-261848">
              <a:buFont typeface="Arial"/>
              <a:buChar char="•"/>
              <a:defRPr/>
            </a:pPr>
            <a:r>
              <a:rPr/>
              <a:t>Maintenance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The printer film is delicate, it should be replaced frequently</a:t>
            </a:r>
            <a:r>
              <a:rPr/>
              <a:t> (layer count on the printer)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The clean tank should be replaced (WIP)</a:t>
            </a:r>
            <a:endParaRPr/>
          </a:p>
          <a:p>
            <a:pPr marL="661898" lvl="1" indent="-261848">
              <a:buFont typeface="Arial"/>
              <a:buChar char="•"/>
              <a:defRPr/>
            </a:pPr>
            <a:r>
              <a:rPr/>
              <a:t>The waste should be emptied (WIP)</a:t>
            </a:r>
            <a:endParaRPr/>
          </a:p>
        </p:txBody>
      </p:sp>
      <p:pic>
        <p:nvPicPr>
          <p:cNvPr id="681498089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782648" y="1069141"/>
            <a:ext cx="6104548" cy="45784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1483815" name="Google Shape;84;p1"/>
          <p:cNvPicPr/>
          <p:nvPr/>
        </p:nvPicPr>
        <p:blipFill rotWithShape="1">
          <a:blip r:embed="rId3">
            <a:alphaModFix/>
          </a:blip>
          <a:srcRect l="-420" t="0" r="418" b="0"/>
          <a:stretch/>
        </p:blipFill>
        <p:spPr bwMode="auto">
          <a:xfrm rot="10800000">
            <a:off x="0" y="-44041"/>
            <a:ext cx="12251334" cy="28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431445" name="Google Shape;88;p1"/>
          <p:cNvSpPr txBox="1"/>
          <p:nvPr/>
        </p:nvSpPr>
        <p:spPr bwMode="auto">
          <a:xfrm>
            <a:off x="261733" y="1790413"/>
            <a:ext cx="11609200" cy="82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  <a:defRPr/>
            </a:pPr>
            <a:r>
              <a:rPr lang="en-US" sz="5350">
                <a:solidFill>
                  <a:srgbClr val="F3F3F3"/>
                </a:solidFill>
                <a:latin typeface="Bahnschrift"/>
                <a:ea typeface="Lato"/>
                <a:cs typeface="Lato"/>
              </a:rPr>
              <a:t>Thank you for your attention</a:t>
            </a:r>
            <a:endParaRPr lang="fr-FR" sz="1200">
              <a:solidFill>
                <a:srgbClr val="FFFFFF"/>
              </a:solidFill>
              <a:latin typeface="Bahnschrift"/>
              <a:ea typeface="Lato"/>
              <a:cs typeface="Lato"/>
            </a:endParaRPr>
          </a:p>
        </p:txBody>
      </p:sp>
      <p:sp>
        <p:nvSpPr>
          <p:cNvPr id="563935658" name="Google Shape;88;p1"/>
          <p:cNvSpPr txBox="1"/>
          <p:nvPr/>
        </p:nvSpPr>
        <p:spPr bwMode="auto">
          <a:xfrm>
            <a:off x="0" y="2600442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  <a:defRPr/>
            </a:pPr>
            <a:r>
              <a:rPr lang="fr-FR" sz="2400">
                <a:solidFill>
                  <a:srgbClr val="F3F3F3"/>
                </a:solidFill>
                <a:latin typeface="Lato"/>
                <a:ea typeface="Lato"/>
                <a:cs typeface="Lato"/>
              </a:rPr>
              <a:t>Do </a:t>
            </a:r>
            <a:r>
              <a:rPr lang="fr-FR" sz="2400">
                <a:solidFill>
                  <a:srgbClr val="F3F3F3"/>
                </a:solidFill>
                <a:latin typeface="Lato"/>
                <a:ea typeface="Lato"/>
                <a:cs typeface="Lato"/>
              </a:rPr>
              <a:t>you</a:t>
            </a:r>
            <a:r>
              <a:rPr lang="fr-FR" sz="2400">
                <a:solidFill>
                  <a:srgbClr val="F3F3F3"/>
                </a:solidFill>
                <a:latin typeface="Lato"/>
                <a:ea typeface="Lato"/>
                <a:cs typeface="Lato"/>
              </a:rPr>
              <a:t> have </a:t>
            </a:r>
            <a:r>
              <a:rPr lang="fr-FR" sz="2400">
                <a:solidFill>
                  <a:srgbClr val="F3F3F3"/>
                </a:solidFill>
                <a:latin typeface="Lato"/>
                <a:ea typeface="Lato"/>
                <a:cs typeface="Lato"/>
              </a:rPr>
              <a:t>any</a:t>
            </a:r>
            <a:r>
              <a:rPr lang="fr-FR" sz="2400">
                <a:solidFill>
                  <a:srgbClr val="F3F3F3"/>
                </a:solidFill>
                <a:latin typeface="Lato"/>
                <a:ea typeface="Lato"/>
                <a:cs typeface="Lato"/>
              </a:rPr>
              <a:t> question?</a:t>
            </a:r>
            <a:endParaRPr lang="fr-FR" sz="400">
              <a:solidFill>
                <a:srgbClr val="FFFFFF"/>
              </a:solidFill>
              <a:latin typeface="Sansatio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3C3E61A41EF44A686C9FFCA980509" ma:contentTypeVersion="14" ma:contentTypeDescription="Create a new document." ma:contentTypeScope="" ma:versionID="4a850719e26814ea4898f56630d3cfb9">
  <xsd:schema xmlns:xsd="http://www.w3.org/2001/XMLSchema" xmlns:xs="http://www.w3.org/2001/XMLSchema" xmlns:p="http://schemas.microsoft.com/office/2006/metadata/properties" xmlns:ns3="d9c045e3-1aca-4b6e-beb6-5d015524db43" targetNamespace="http://schemas.microsoft.com/office/2006/metadata/properties" ma:root="true" ma:fieldsID="455458bedc9c5d5c5aa5584de98759f8" ns3:_="">
    <xsd:import namespace="d9c045e3-1aca-4b6e-beb6-5d015524db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c045e3-1aca-4b6e-beb6-5d015524db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igrationWizId" ma:index="9" nillable="true" ma:displayName="MigrationWizId" ma:internalName="MigrationWizId">
      <xsd:simpleType>
        <xsd:restriction base="dms:Text"/>
      </xsd:simpleType>
    </xsd:element>
    <xsd:element name="MigrationWizIdPermissions" ma:index="10" nillable="true" ma:displayName="MigrationWizIdPermissions" ma:internalName="MigrationWizIdPermissions">
      <xsd:simpleType>
        <xsd:restriction base="dms:Text"/>
      </xsd:simpleType>
    </xsd:element>
    <xsd:element name="MigrationWizIdVersion" ma:index="11" nillable="true" ma:displayName="MigrationWizIdVersion" ma:internalName="MigrationWizIdVersion">
      <xsd:simpleType>
        <xsd:restriction base="dms:Text"/>
      </xsd:simpleType>
    </xsd:element>
    <xsd:element name="_activity" ma:index="12" nillable="true" ma:displayName="_activity" ma:hidden="true" ma:internalName="_activity" ma:readOnly="false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s xmlns="d9c045e3-1aca-4b6e-beb6-5d015524db43" xsi:nil="true"/>
    <_activity xmlns="d9c045e3-1aca-4b6e-beb6-5d015524db43" xsi:nil="true"/>
    <MigrationWizIdVersion xmlns="d9c045e3-1aca-4b6e-beb6-5d015524db43" xsi:nil="true"/>
    <MigrationWizId xmlns="d9c045e3-1aca-4b6e-beb6-5d015524db43" xsi:nil="true"/>
  </documentManagement>
</p:properties>
</file>

<file path=customXml/itemProps1.xml><?xml version="1.0" encoding="utf-8"?>
<ds:datastoreItem xmlns:ds="http://schemas.openxmlformats.org/officeDocument/2006/customXml" ds:itemID="E5497183-D88B-46B9-B770-B3872C0E61A5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72A434B0-23AC-49B6-ABB8-7F72BBB958E5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c045e3-1aca-4b6e-beb6-5d015524d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0F1B9770-0D0F-4390-BDD3-D38645634706">
  <ds:schemaRefs>
    <ds:schemaRef ds:uri="http://purl.org/dc/dcmitype/"/>
    <ds:schemaRef ds:uri="d9c045e3-1aca-4b6e-beb6-5d015524db4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Titouan BELIER</dc:creator>
  <cp:lastModifiedBy/>
  <cp:revision>297</cp:revision>
  <dcterms:created xsi:type="dcterms:W3CDTF">2025-03-13T18:57:09Z</dcterms:created>
  <dcterms:modified xsi:type="dcterms:W3CDTF">2026-10-26T10:55:50Z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0x01010050E3C3E61A41EF44A686C9FFCA980509</vt:lpwstr>
  </property>
</Properties>
</file>